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6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7" r:id="rId2"/>
    <p:sldId id="258" r:id="rId3"/>
  </p:sldIdLst>
  <p:sldSz cx="12192000" cy="6858000"/>
  <p:notesSz cx="6858000" cy="9144000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-902" y="-162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2026/6/12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7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oup 86"/>
          <p:cNvGrpSpPr/>
          <p:nvPr/>
        </p:nvGrpSpPr>
        <p:grpSpPr>
          <a:xfrm rot="21600000">
            <a:off x="8927115" y="0"/>
            <a:ext cx="2130448" cy="6858411"/>
            <a:chOff x="0" y="0"/>
            <a:chExt cx="2627947" cy="8459977"/>
          </a:xfrm>
        </p:grpSpPr>
        <p:sp>
          <p:nvSpPr>
            <p:cNvPr id="864" name="rect 864"/>
            <p:cNvSpPr/>
            <p:nvPr/>
          </p:nvSpPr>
          <p:spPr>
            <a:xfrm>
              <a:off x="0" y="0"/>
              <a:ext cx="2627947" cy="8459977"/>
            </a:xfrm>
            <a:prstGeom prst="rect">
              <a:avLst/>
            </a:prstGeom>
            <a:solidFill>
              <a:srgbClr val="DBDCD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 sz="1460"/>
            </a:p>
          </p:txBody>
        </p:sp>
        <p:sp>
          <p:nvSpPr>
            <p:cNvPr id="866" name="textbox 866"/>
            <p:cNvSpPr/>
            <p:nvPr/>
          </p:nvSpPr>
          <p:spPr>
            <a:xfrm>
              <a:off x="253417" y="1352181"/>
              <a:ext cx="2024379" cy="49999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6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r" rtl="0" eaLnBrk="0">
                <a:lnSpc>
                  <a:spcPct val="74000"/>
                </a:lnSpc>
              </a:pPr>
              <a:r>
                <a:rPr sz="2110" kern="0" spc="80" dirty="0">
                  <a:solidFill>
                    <a:srgbClr val="004898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A5-</a:t>
              </a:r>
              <a:r>
                <a:rPr sz="2110" kern="0" spc="-220" dirty="0">
                  <a:solidFill>
                    <a:srgbClr val="004898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110" kern="0" spc="80" dirty="0">
                  <a:solidFill>
                    <a:srgbClr val="004898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03</a:t>
              </a:r>
              <a:endParaRPr sz="211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4445" indent="-1035050" algn="l" rtl="0" eaLnBrk="0">
                <a:lnSpc>
                  <a:spcPct val="106000"/>
                </a:lnSpc>
                <a:spcBef>
                  <a:spcPts val="1055"/>
                </a:spcBef>
              </a:pPr>
              <a:r>
                <a:rPr sz="1055" kern="0" spc="50" dirty="0">
                  <a:solidFill>
                    <a:srgbClr val="3E3A3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标志与集团中英文全称</a:t>
              </a:r>
              <a:r>
                <a:rPr sz="1055" kern="0" spc="40" dirty="0">
                  <a:solidFill>
                    <a:srgbClr val="3E3A3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横式组合</a:t>
              </a:r>
              <a:endParaRPr sz="105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192000"/>
                </a:lnSpc>
                <a:spcBef>
                  <a:spcPts val="1370"/>
                </a:spcBef>
              </a:pPr>
              <a:r>
                <a:rPr sz="485" kern="0" spc="60" dirty="0">
                  <a:solidFill>
                    <a:srgbClr val="3E3A3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根据不同环境和不同功能需求，东软教育品</a:t>
              </a:r>
              <a:r>
                <a:rPr sz="485" kern="0" spc="50" dirty="0">
                  <a:solidFill>
                    <a:srgbClr val="3E3A3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牌标识在</a:t>
              </a:r>
              <a:r>
                <a:rPr sz="485" kern="0" spc="-10" dirty="0">
                  <a:solidFill>
                    <a:srgbClr val="3E3A3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485" kern="0" spc="60" dirty="0">
                  <a:solidFill>
                    <a:srgbClr val="3E3A3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视觉元素上有多种组合形式，为确保传达信</a:t>
              </a:r>
              <a:r>
                <a:rPr sz="485" kern="0" spc="50" dirty="0">
                  <a:solidFill>
                    <a:srgbClr val="3E3A3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息的清晰</a:t>
              </a:r>
              <a:r>
                <a:rPr sz="485" kern="0" spc="-10" dirty="0">
                  <a:solidFill>
                    <a:srgbClr val="3E3A3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485" kern="0" spc="60" dirty="0">
                  <a:solidFill>
                    <a:srgbClr val="3E3A3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与准确，本页组合为标志与集团中英文全称</a:t>
              </a:r>
              <a:r>
                <a:rPr sz="485" kern="0" spc="50" dirty="0">
                  <a:solidFill>
                    <a:srgbClr val="3E3A3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横式组合</a:t>
              </a:r>
              <a:r>
                <a:rPr sz="485" kern="0" spc="-10" dirty="0">
                  <a:solidFill>
                    <a:srgbClr val="3E3A3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485" kern="0" spc="40" dirty="0">
                  <a:solidFill>
                    <a:srgbClr val="3E3A3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形式，</a:t>
              </a:r>
              <a:r>
                <a:rPr sz="485" kern="0" spc="150" dirty="0">
                  <a:solidFill>
                    <a:srgbClr val="3E3A3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485" kern="0" spc="40" dirty="0">
                  <a:solidFill>
                    <a:srgbClr val="3E3A3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使其视觉形象</a:t>
              </a:r>
              <a:r>
                <a:rPr sz="485" kern="0" spc="30" dirty="0">
                  <a:solidFill>
                    <a:srgbClr val="3E3A3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始终保持统一。</a:t>
              </a:r>
              <a:endParaRPr sz="48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02000"/>
                </a:lnSpc>
              </a:pPr>
              <a:endParaRPr sz="81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81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81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81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81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81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81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81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81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81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81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81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81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81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81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756285" indent="209550" algn="l" rtl="0" eaLnBrk="0">
                <a:lnSpc>
                  <a:spcPct val="99000"/>
                </a:lnSpc>
                <a:spcBef>
                  <a:spcPts val="275"/>
                </a:spcBef>
              </a:pPr>
              <a:r>
                <a:rPr sz="730" kern="0" spc="10" dirty="0">
                  <a:solidFill>
                    <a:srgbClr val="3E3A3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Neusoft</a:t>
              </a:r>
              <a:r>
                <a:rPr sz="730" kern="0" spc="80" dirty="0">
                  <a:solidFill>
                    <a:srgbClr val="3E3A3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730" kern="0" spc="10" dirty="0">
                  <a:solidFill>
                    <a:srgbClr val="3E3A3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Educat</a:t>
              </a:r>
              <a:r>
                <a:rPr sz="730" kern="0" spc="0" dirty="0">
                  <a:solidFill>
                    <a:srgbClr val="3E3A3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ion </a:t>
              </a:r>
              <a:r>
                <a:rPr sz="730" kern="0" spc="20" dirty="0">
                  <a:solidFill>
                    <a:srgbClr val="3E3A3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Visual</a:t>
              </a:r>
              <a:r>
                <a:rPr sz="730" kern="0" spc="80" dirty="0">
                  <a:solidFill>
                    <a:srgbClr val="3E3A3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730" kern="0" spc="20" dirty="0">
                  <a:solidFill>
                    <a:srgbClr val="3E3A3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lde</a:t>
              </a:r>
              <a:r>
                <a:rPr sz="730" kern="0" spc="10" dirty="0">
                  <a:solidFill>
                    <a:srgbClr val="3E3A3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ntity System</a:t>
              </a:r>
              <a:endParaRPr sz="73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22000"/>
                </a:lnSpc>
              </a:pPr>
              <a:endParaRPr sz="81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9000"/>
                </a:lnSpc>
              </a:pPr>
              <a:endParaRPr sz="16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443355" indent="-918845" algn="l" rtl="0" eaLnBrk="0">
                <a:lnSpc>
                  <a:spcPct val="111000"/>
                </a:lnSpc>
                <a:spcBef>
                  <a:spcPts val="0"/>
                </a:spcBef>
              </a:pPr>
              <a:r>
                <a:rPr sz="890" kern="0" spc="70" dirty="0">
                  <a:solidFill>
                    <a:srgbClr val="3E3A3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东软教育视觉识别系</a:t>
              </a:r>
              <a:r>
                <a:rPr sz="890" kern="0" spc="60" dirty="0">
                  <a:solidFill>
                    <a:srgbClr val="3E3A3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统</a:t>
              </a:r>
              <a:r>
                <a:rPr sz="890" kern="0" spc="10" dirty="0">
                  <a:solidFill>
                    <a:srgbClr val="3E3A3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基础部分</a:t>
              </a:r>
              <a:endParaRPr sz="89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868" name="picture 86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824014" y="6717982"/>
              <a:ext cx="1803932" cy="1741995"/>
            </a:xfrm>
            <a:prstGeom prst="rect">
              <a:avLst/>
            </a:prstGeom>
          </p:spPr>
        </p:pic>
        <p:sp>
          <p:nvSpPr>
            <p:cNvPr id="870" name="path 870"/>
            <p:cNvSpPr/>
            <p:nvPr/>
          </p:nvSpPr>
          <p:spPr>
            <a:xfrm>
              <a:off x="2175991" y="5330352"/>
              <a:ext cx="88557" cy="6743"/>
            </a:xfrm>
            <a:custGeom>
              <a:avLst/>
              <a:gdLst/>
              <a:ahLst/>
              <a:cxnLst/>
              <a:rect l="0" t="0" r="0" b="0"/>
              <a:pathLst>
                <a:path w="139" h="10">
                  <a:moveTo>
                    <a:pt x="139" y="5"/>
                  </a:moveTo>
                  <a:lnTo>
                    <a:pt x="0" y="5"/>
                  </a:lnTo>
                </a:path>
              </a:pathLst>
            </a:custGeom>
            <a:noFill/>
            <a:ln w="6743" cap="flat">
              <a:solidFill>
                <a:srgbClr val="3E3A39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 sz="1460"/>
            </a:p>
          </p:txBody>
        </p:sp>
        <p:sp>
          <p:nvSpPr>
            <p:cNvPr id="872" name="path 872"/>
            <p:cNvSpPr/>
            <p:nvPr/>
          </p:nvSpPr>
          <p:spPr>
            <a:xfrm>
              <a:off x="2175991" y="5875895"/>
              <a:ext cx="88557" cy="6743"/>
            </a:xfrm>
            <a:custGeom>
              <a:avLst/>
              <a:gdLst/>
              <a:ahLst/>
              <a:cxnLst/>
              <a:rect l="0" t="0" r="0" b="0"/>
              <a:pathLst>
                <a:path w="139" h="10">
                  <a:moveTo>
                    <a:pt x="139" y="5"/>
                  </a:moveTo>
                  <a:lnTo>
                    <a:pt x="0" y="5"/>
                  </a:lnTo>
                </a:path>
              </a:pathLst>
            </a:custGeom>
            <a:noFill/>
            <a:ln w="6743" cap="flat">
              <a:solidFill>
                <a:srgbClr val="3E3A39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 sz="1460"/>
            </a:p>
          </p:txBody>
        </p:sp>
        <p:sp>
          <p:nvSpPr>
            <p:cNvPr id="874" name="path 874"/>
            <p:cNvSpPr/>
            <p:nvPr/>
          </p:nvSpPr>
          <p:spPr>
            <a:xfrm>
              <a:off x="2175991" y="6421449"/>
              <a:ext cx="88557" cy="6743"/>
            </a:xfrm>
            <a:custGeom>
              <a:avLst/>
              <a:gdLst/>
              <a:ahLst/>
              <a:cxnLst/>
              <a:rect l="0" t="0" r="0" b="0"/>
              <a:pathLst>
                <a:path w="139" h="10">
                  <a:moveTo>
                    <a:pt x="139" y="5"/>
                  </a:moveTo>
                  <a:lnTo>
                    <a:pt x="0" y="5"/>
                  </a:lnTo>
                </a:path>
              </a:pathLst>
            </a:custGeom>
            <a:noFill/>
            <a:ln w="6743" cap="flat">
              <a:solidFill>
                <a:srgbClr val="3E3A39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 sz="1460"/>
            </a:p>
          </p:txBody>
        </p:sp>
      </p:grpSp>
      <p:pic>
        <p:nvPicPr>
          <p:cNvPr id="876" name="picture 87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485765" y="4455567"/>
            <a:ext cx="5097542" cy="461878"/>
          </a:xfrm>
          <a:prstGeom prst="rect">
            <a:avLst/>
          </a:prstGeom>
        </p:spPr>
      </p:pic>
      <p:sp>
        <p:nvSpPr>
          <p:cNvPr id="3" name="矩形 2" descr="7b0a2020202022776f7264617274223a2022220a7d0a"/>
          <p:cNvSpPr/>
          <p:nvPr>
            <p:custDataLst>
              <p:tags r:id="rId1"/>
            </p:custDataLst>
          </p:nvPr>
        </p:nvSpPr>
        <p:spPr>
          <a:xfrm>
            <a:off x="1582771" y="2468245"/>
            <a:ext cx="6494085" cy="1200329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7200" spc="1000" dirty="0">
                <a:ln w="15240"/>
                <a:gradFill>
                  <a:gsLst>
                    <a:gs pos="50000">
                      <a:srgbClr val="1F5FBF"/>
                    </a:gs>
                    <a:gs pos="0">
                      <a:srgbClr val="1486CB"/>
                    </a:gs>
                    <a:gs pos="100000">
                      <a:srgbClr val="2A34B2"/>
                    </a:gs>
                  </a:gsLst>
                  <a:lin ang="5400000" scaled="1"/>
                </a:gradFill>
                <a:effectLst/>
                <a:latin typeface="字魂江汉手书" panose="00000500000000000000" charset="-122"/>
                <a:ea typeface="字魂江汉手书" panose="00000500000000000000" charset="-122"/>
                <a:sym typeface="字魂馆藏山海经体" panose="00000500000000000000" charset="-122"/>
              </a:rPr>
              <a:t>熙心健康体检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2&quot;:[25125218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25125218&quot;,&quot;origin&quot;:0,&quot;type&quot;:&quot;wordart&quot;,&quot;user&quot;:&quot;1170594362&quot;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26</Words>
  <Application>Microsoft Office PowerPoint</Application>
  <PresentationFormat>宽屏</PresentationFormat>
  <Paragraphs>24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微软雅黑</vt:lpstr>
      <vt:lpstr>字魂江汉手书</vt:lpstr>
      <vt:lpstr>Arial</vt:lpstr>
      <vt:lpstr>Calibri</vt:lpstr>
      <vt:lpstr>Wingdings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Auto</dc:creator>
  <cp:lastModifiedBy>鸿轩 郭</cp:lastModifiedBy>
  <cp:revision>159</cp:revision>
  <dcterms:created xsi:type="dcterms:W3CDTF">2019-06-19T02:08:00Z</dcterms:created>
  <dcterms:modified xsi:type="dcterms:W3CDTF">2026-06-12T00:43:03Z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2052-12.1.0.26381</vt:lpwstr>
  </property>
  <property fmtid="{D5CDD505-2E9C-101B-9397-08002B2CF9AE}" pid="3" name="ICV">
    <vt:lpwstr>A897FC95D7C14D12B988FC4660963924_11</vt:lpwstr>
  </property>
</Properties>
</file>